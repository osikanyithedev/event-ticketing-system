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2.png"/><Relationship Id="rId5" Type="http://schemas.openxmlformats.org/officeDocument/2006/relationships/image" Target="../media/image2.png"/><Relationship Id="rId6" Type="http://schemas.openxmlformats.org/officeDocument/2006/relationships/image" Target="../media/image27.png"/><Relationship Id="rId7" Type="http://schemas.openxmlformats.org/officeDocument/2006/relationships/image" Target="../media/image1.png"/><Relationship Id="rId8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mailto:osikanyie@gmail.com" TargetMode="External"/><Relationship Id="rId4" Type="http://schemas.openxmlformats.org/officeDocument/2006/relationships/hyperlink" Target="mailto:osikanyie@gmail.com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17.png"/><Relationship Id="rId7" Type="http://schemas.openxmlformats.org/officeDocument/2006/relationships/image" Target="../media/image11.png"/><Relationship Id="rId8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B2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092440" y="1051560"/>
            <a:ext cx="3429000" cy="4754880"/>
          </a:xfrm>
          <a:prstGeom prst="roundRect">
            <a:avLst>
              <a:gd fmla="val 5867" name="adj"/>
            </a:avLst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991856" y="2282342"/>
            <a:ext cx="201168" cy="201168"/>
          </a:xfrm>
          <a:prstGeom prst="ellipse">
            <a:avLst/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991856" y="4374490"/>
            <a:ext cx="201168" cy="201168"/>
          </a:xfrm>
          <a:prstGeom prst="ellipse">
            <a:avLst/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8983980" y="2606040"/>
            <a:ext cx="1645920" cy="1645920"/>
          </a:xfrm>
          <a:prstGeom prst="ellipse">
            <a:avLst/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ticket_white.png" id="20" name="Google Shape;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28378" y="3050438"/>
            <a:ext cx="757123" cy="75712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/>
          <p:nvPr/>
        </p:nvSpPr>
        <p:spPr>
          <a:xfrm>
            <a:off x="685800" y="14173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2B705"/>
                </a:solidFill>
                <a:latin typeface="Calibri"/>
                <a:ea typeface="Calibri"/>
                <a:cs typeface="Calibri"/>
                <a:sym typeface="Calibri"/>
              </a:rPr>
              <a:t>CLOUD COMPUTING CAPSTONE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40080" y="1874520"/>
            <a:ext cx="69494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Event Registration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&amp; Ticketing System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85800" y="39776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985C"/>
              </a:buClr>
              <a:buSzPts val="1900"/>
              <a:buFont typeface="Calibri"/>
              <a:buNone/>
            </a:pPr>
            <a:r>
              <a:rPr b="0" i="1" lang="en-US" sz="1900" u="none" cap="none" strike="noStrike">
                <a:solidFill>
                  <a:srgbClr val="F0985C"/>
                </a:solidFill>
                <a:latin typeface="Calibri"/>
                <a:ea typeface="Calibri"/>
                <a:cs typeface="Calibri"/>
                <a:sym typeface="Calibri"/>
              </a:rPr>
              <a:t>A serverless REST API on AWS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85800" y="5806440"/>
            <a:ext cx="82296" cy="82296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914400" y="5523791"/>
            <a:ext cx="36576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Osikanyi Essandoh</a:t>
            </a:r>
            <a:endParaRPr b="1" i="0" sz="1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OsiaknyiTheDev</a:t>
            </a:r>
            <a:endParaRPr b="1"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B29"/>
                </a:solidFill>
                <a:latin typeface="Cambria"/>
                <a:ea typeface="Cambria"/>
                <a:cs typeface="Cambria"/>
                <a:sym typeface="Cambria"/>
              </a:rPr>
              <a:t>The Problem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40080" y="1554480"/>
            <a:ext cx="4892040" cy="1828800"/>
          </a:xfrm>
          <a:prstGeom prst="roundRect">
            <a:avLst>
              <a:gd fmla="val 7500" name="adj"/>
            </a:avLst>
          </a:prstGeom>
          <a:solidFill>
            <a:srgbClr val="F5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960120" y="1783080"/>
            <a:ext cx="42976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2100"/>
              <a:buFont typeface="Cambria"/>
              <a:buNone/>
            </a:pPr>
            <a:r>
              <a:rPr b="1" i="1" lang="en-US" sz="2100" u="none" cap="none" strike="noStrike">
                <a:solidFill>
                  <a:srgbClr val="1C1B29"/>
                </a:solidFill>
                <a:latin typeface="Cambria"/>
                <a:ea typeface="Cambria"/>
                <a:cs typeface="Cambria"/>
                <a:sym typeface="Cambria"/>
              </a:rPr>
              <a:t>Event registration today is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2100"/>
              <a:buFont typeface="Cambria"/>
              <a:buNone/>
            </a:pPr>
            <a:r>
              <a:rPr b="1" i="1" lang="en-US" sz="2100" u="none" cap="none" strike="noStrike">
                <a:solidFill>
                  <a:srgbClr val="1C1B29"/>
                </a:solidFill>
                <a:latin typeface="Cambria"/>
                <a:ea typeface="Cambria"/>
                <a:cs typeface="Cambria"/>
                <a:sym typeface="Cambria"/>
              </a:rPr>
              <a:t>Microsoft Forms + Excel.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40080" y="3611880"/>
            <a:ext cx="4892040" cy="1600200"/>
          </a:xfrm>
          <a:prstGeom prst="roundRect">
            <a:avLst>
              <a:gd fmla="val 8571" name="adj"/>
            </a:avLst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960120" y="37947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960120" y="4114800"/>
            <a:ext cx="4251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Replace it with a real, scalable, monitored API.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943600" y="1508760"/>
            <a:ext cx="566928" cy="566928"/>
          </a:xfrm>
          <a:prstGeom prst="ellipse">
            <a:avLst/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warning_white.png" id="38" name="Google Shape;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671" y="1661831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6720840" y="148132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No input validation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720840" y="1801368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Garbage data sneaks in unnoticed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943600" y="2679192"/>
            <a:ext cx="566928" cy="566928"/>
          </a:xfrm>
          <a:prstGeom prst="ellipse">
            <a:avLst/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envelope_white.png" id="42" name="Google Shape;4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671" y="2832263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>
            <a:off x="6720840" y="265176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No confirmations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720840" y="29718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Attendees are never sure they registered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943600" y="3849624"/>
            <a:ext cx="566928" cy="566928"/>
          </a:xfrm>
          <a:prstGeom prst="ellipse">
            <a:avLst/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ell_white.png" id="46" name="Google Shape;4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671" y="4002695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"/>
          <p:cNvSpPr/>
          <p:nvPr/>
        </p:nvSpPr>
        <p:spPr>
          <a:xfrm>
            <a:off x="6720840" y="382219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No monitoring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720840" y="4142232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Problems stay invisible until someone complains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943600" y="5020056"/>
            <a:ext cx="566928" cy="566928"/>
          </a:xfrm>
          <a:prstGeom prst="ellipse">
            <a:avLst/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lex_white.png" id="50" name="Google Shape;5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671" y="5173127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4"/>
          <p:cNvSpPr/>
          <p:nvPr/>
        </p:nvSpPr>
        <p:spPr>
          <a:xfrm>
            <a:off x="6720840" y="4992624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500"/>
              <a:buFont typeface="Calibri"/>
              <a:buNone/>
            </a:pPr>
            <a:r>
              <a:rPr b="1" i="0" lang="en-US" sz="16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Doesn't scale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720840" y="5312664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No API for websites or other tools to plug into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B29"/>
                </a:solidFill>
                <a:latin typeface="Cambria"/>
                <a:ea typeface="Cambria"/>
                <a:cs typeface="Cambria"/>
                <a:sym typeface="Cambria"/>
              </a:rPr>
              <a:t>The Solution: Serverless API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40080" y="1463040"/>
            <a:ext cx="3456432" cy="1965960"/>
          </a:xfrm>
          <a:prstGeom prst="roundRect">
            <a:avLst>
              <a:gd fmla="val 6512" name="adj"/>
            </a:avLst>
          </a:prstGeom>
          <a:solidFill>
            <a:srgbClr val="F5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914400" y="1737360"/>
            <a:ext cx="530352" cy="530352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de_white.png" id="61" name="Google Shape;6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595" y="1880555"/>
            <a:ext cx="243962" cy="24396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5"/>
          <p:cNvSpPr/>
          <p:nvPr/>
        </p:nvSpPr>
        <p:spPr>
          <a:xfrm>
            <a:off x="914400" y="2423160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6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4 REST Endpoints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914400" y="2788920"/>
            <a:ext cx="2907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Full registration lifecycle, one route per action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352544" y="1463040"/>
            <a:ext cx="3456432" cy="1965960"/>
          </a:xfrm>
          <a:prstGeom prst="roundRect">
            <a:avLst>
              <a:gd fmla="val 6512" name="adj"/>
            </a:avLst>
          </a:prstGeom>
          <a:solidFill>
            <a:srgbClr val="F5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4626864" y="1737360"/>
            <a:ext cx="530352" cy="530352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hieldcheck_white.png" id="66" name="Google Shape;6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0059" y="1880555"/>
            <a:ext cx="243962" cy="24396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/>
          <p:nvPr/>
        </p:nvSpPr>
        <p:spPr>
          <a:xfrm>
            <a:off x="4626864" y="2423160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6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Real-Time Validation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626864" y="2788920"/>
            <a:ext cx="2907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Duplicate prevention built into every write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8065008" y="1463040"/>
            <a:ext cx="3456432" cy="1965960"/>
          </a:xfrm>
          <a:prstGeom prst="roundRect">
            <a:avLst>
              <a:gd fmla="val 6512" name="adj"/>
            </a:avLst>
          </a:prstGeom>
          <a:solidFill>
            <a:srgbClr val="F5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8339328" y="1737360"/>
            <a:ext cx="530352" cy="530352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envelope_white.png" id="71" name="Google Shape;7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82523" y="1880555"/>
            <a:ext cx="243962" cy="24396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/>
          <p:nvPr/>
        </p:nvSpPr>
        <p:spPr>
          <a:xfrm>
            <a:off x="8339328" y="2423160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6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Automatic Confirmations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8339328" y="2788920"/>
            <a:ext cx="2907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SNS sends an email the moment you register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40080" y="3703320"/>
            <a:ext cx="3456432" cy="1965960"/>
          </a:xfrm>
          <a:prstGeom prst="roundRect">
            <a:avLst>
              <a:gd fmla="val 6512" name="adj"/>
            </a:avLst>
          </a:prstGeom>
          <a:solidFill>
            <a:srgbClr val="F5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914400" y="3977640"/>
            <a:ext cx="530352" cy="530352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artup_white.png" id="76" name="Google Shape;7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595" y="4120835"/>
            <a:ext cx="243962" cy="243962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914400" y="4663440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6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Live Monitoring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914400" y="5029200"/>
            <a:ext cx="2907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CloudWatch dashboards and alarms, always on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352544" y="3703320"/>
            <a:ext cx="3456432" cy="1965960"/>
          </a:xfrm>
          <a:prstGeom prst="roundRect">
            <a:avLst>
              <a:gd fmla="val 6512" name="adj"/>
            </a:avLst>
          </a:prstGeom>
          <a:solidFill>
            <a:srgbClr val="F5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4626864" y="3977640"/>
            <a:ext cx="530352" cy="530352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tack_white.png" id="81" name="Google Shape;81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70059" y="4120835"/>
            <a:ext cx="243962" cy="24396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/>
          <p:nvPr/>
        </p:nvSpPr>
        <p:spPr>
          <a:xfrm>
            <a:off x="4626864" y="4663440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6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Infrastructure as Code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626864" y="5029200"/>
            <a:ext cx="2907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Reproducible Terraform, fully version-controlled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8065008" y="3703320"/>
            <a:ext cx="3456432" cy="1965960"/>
          </a:xfrm>
          <a:prstGeom prst="roundRect">
            <a:avLst>
              <a:gd fmla="val 6512" name="adj"/>
            </a:avLst>
          </a:prstGeom>
          <a:solidFill>
            <a:srgbClr val="F5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8339328" y="3977640"/>
            <a:ext cx="530352" cy="530352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ollar_white.png" id="86" name="Google Shape;86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2523" y="4120835"/>
            <a:ext cx="243962" cy="24396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/>
          <p:nvPr/>
        </p:nvSpPr>
        <p:spPr>
          <a:xfrm>
            <a:off x="8339328" y="4663440"/>
            <a:ext cx="2907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6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Idle Cost ≈ $0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8339328" y="5029200"/>
            <a:ext cx="2907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Fully serverless, on-demand billing only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B29"/>
                </a:solidFill>
                <a:latin typeface="Cambria"/>
                <a:ea typeface="Cambria"/>
                <a:cs typeface="Cambria"/>
                <a:sym typeface="Cambria"/>
              </a:rPr>
              <a:t>Architecture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640080" y="117043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300"/>
              <a:buFont typeface="Calibri"/>
              <a:buNone/>
            </a:pPr>
            <a:r>
              <a:rPr b="0" i="1" lang="en-US" sz="150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Client → CloudFront/API Gateway → Lambda → DynamoDB — fully serverless, event-driven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1257148" y="1463040"/>
            <a:ext cx="9677400" cy="5486400"/>
          </a:xfrm>
          <a:prstGeom prst="roundRect">
            <a:avLst>
              <a:gd fmla="val 1667" name="adj"/>
            </a:avLst>
          </a:prstGeom>
          <a:solidFill>
            <a:srgbClr val="FFFFFF"/>
          </a:solidFill>
          <a:ln cap="flat" cmpd="sng" w="12700">
            <a:solidFill>
              <a:srgbClr val="E6E3E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1C1B29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rchitecture.png" id="97" name="Google Shape;9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748" y="1691640"/>
            <a:ext cx="9220200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/>
          <p:nvPr/>
        </p:nvSpPr>
        <p:spPr>
          <a:xfrm>
            <a:off x="641455" y="73145"/>
            <a:ext cx="9144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B29"/>
                </a:solidFill>
                <a:latin typeface="Cambria"/>
                <a:ea typeface="Cambria"/>
                <a:cs typeface="Cambria"/>
                <a:sym typeface="Cambria"/>
              </a:rPr>
              <a:t>The API — 4 Endpoints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691680" y="669970"/>
            <a:ext cx="10908900" cy="749700"/>
          </a:xfrm>
          <a:prstGeom prst="roundRect">
            <a:avLst>
              <a:gd fmla="val 14634" name="adj"/>
            </a:avLst>
          </a:prstGeom>
          <a:solidFill>
            <a:srgbClr val="F5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591096" y="779332"/>
            <a:ext cx="201300" cy="201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591096" y="1109248"/>
            <a:ext cx="201300" cy="201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920280" y="852850"/>
            <a:ext cx="1051500" cy="384000"/>
          </a:xfrm>
          <a:prstGeom prst="roundRect">
            <a:avLst>
              <a:gd fmla="val 19048" name="adj"/>
            </a:avLst>
          </a:prstGeom>
          <a:solidFill>
            <a:srgbClr val="F2B7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920280" y="852850"/>
            <a:ext cx="1051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250"/>
              <a:buFont typeface="Courier New"/>
              <a:buNone/>
            </a:pPr>
            <a:r>
              <a:rPr b="1" i="0" lang="en-US" u="none" cap="none" strike="noStrike">
                <a:solidFill>
                  <a:srgbClr val="1C1B29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2200440" y="743122"/>
            <a:ext cx="4206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C1B29"/>
                </a:solidFill>
                <a:latin typeface="Courier New"/>
                <a:ea typeface="Courier New"/>
                <a:cs typeface="Courier New"/>
                <a:sym typeface="Courier New"/>
              </a:rPr>
              <a:t>/events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2200440" y="1054018"/>
            <a:ext cx="4206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List all events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9835730" y="825420"/>
            <a:ext cx="15546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642C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D9642C"/>
                </a:solidFill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91680" y="1471308"/>
            <a:ext cx="10908900" cy="749700"/>
          </a:xfrm>
          <a:prstGeom prst="roundRect">
            <a:avLst>
              <a:gd fmla="val 14634" name="adj"/>
            </a:avLst>
          </a:prstGeom>
          <a:solidFill>
            <a:srgbClr val="F5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591096" y="1580670"/>
            <a:ext cx="201300" cy="201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591096" y="1910586"/>
            <a:ext cx="201300" cy="201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920280" y="1654188"/>
            <a:ext cx="1051500" cy="384000"/>
          </a:xfrm>
          <a:prstGeom prst="roundRect">
            <a:avLst>
              <a:gd fmla="val 19048" name="adj"/>
            </a:avLst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920280" y="1654188"/>
            <a:ext cx="1051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urier New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2200440" y="1544460"/>
            <a:ext cx="4206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C1B29"/>
                </a:solidFill>
                <a:latin typeface="Courier New"/>
                <a:ea typeface="Courier New"/>
                <a:cs typeface="Courier New"/>
                <a:sym typeface="Courier New"/>
              </a:rPr>
              <a:t>/register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2200440" y="1855356"/>
            <a:ext cx="4206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Register for an event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9835730" y="1508633"/>
            <a:ext cx="15546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642C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D9642C"/>
                </a:solidFill>
                <a:latin typeface="Courier New"/>
                <a:ea typeface="Courier New"/>
                <a:cs typeface="Courier New"/>
                <a:sym typeface="Courier New"/>
              </a:rPr>
              <a:t>201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91680" y="2347270"/>
            <a:ext cx="10908900" cy="749700"/>
          </a:xfrm>
          <a:prstGeom prst="roundRect">
            <a:avLst>
              <a:gd fmla="val 14634" name="adj"/>
            </a:avLst>
          </a:prstGeom>
          <a:solidFill>
            <a:srgbClr val="F5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591096" y="2608132"/>
            <a:ext cx="201300" cy="201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591096" y="2938048"/>
            <a:ext cx="201300" cy="201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920280" y="2530150"/>
            <a:ext cx="1051500" cy="384000"/>
          </a:xfrm>
          <a:prstGeom prst="roundRect">
            <a:avLst>
              <a:gd fmla="val 19048" name="adj"/>
            </a:avLst>
          </a:prstGeom>
          <a:solidFill>
            <a:srgbClr val="F2B7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920280" y="2530150"/>
            <a:ext cx="1051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250"/>
              <a:buFont typeface="Courier New"/>
              <a:buNone/>
            </a:pPr>
            <a:r>
              <a:rPr b="1" i="0" lang="en-US" u="none" cap="none" strike="noStrike">
                <a:solidFill>
                  <a:srgbClr val="1C1B29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2200440" y="2501172"/>
            <a:ext cx="4206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C1B29"/>
                </a:solidFill>
                <a:latin typeface="Courier New"/>
                <a:ea typeface="Courier New"/>
                <a:cs typeface="Courier New"/>
                <a:sym typeface="Courier New"/>
              </a:rPr>
              <a:t>/registrations/{email}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2200440" y="2731318"/>
            <a:ext cx="4206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View a person's sign-ups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9835730" y="2341595"/>
            <a:ext cx="15546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642C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D9642C"/>
                </a:solidFill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691680" y="3174570"/>
            <a:ext cx="10908900" cy="749700"/>
          </a:xfrm>
          <a:prstGeom prst="roundRect">
            <a:avLst>
              <a:gd fmla="val 14634" name="adj"/>
            </a:avLst>
          </a:prstGeom>
          <a:solidFill>
            <a:srgbClr val="F5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591096" y="3435507"/>
            <a:ext cx="201300" cy="201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591096" y="3700873"/>
            <a:ext cx="201300" cy="201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920280" y="3357450"/>
            <a:ext cx="1051500" cy="384000"/>
          </a:xfrm>
          <a:prstGeom prst="roundRect">
            <a:avLst>
              <a:gd fmla="val 19048" name="adj"/>
            </a:avLst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920280" y="3357450"/>
            <a:ext cx="1051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urier New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DELETE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2200440" y="3247722"/>
            <a:ext cx="4206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C1B29"/>
                </a:solidFill>
                <a:latin typeface="Courier New"/>
                <a:ea typeface="Courier New"/>
                <a:cs typeface="Courier New"/>
                <a:sym typeface="Courier New"/>
              </a:rPr>
              <a:t>/registration/{id}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2200440" y="3558618"/>
            <a:ext cx="4206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Cancel a registration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9835730" y="3185920"/>
            <a:ext cx="15546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642C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D9642C"/>
                </a:solidFill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41380" y="5937265"/>
            <a:ext cx="10908900" cy="777300"/>
          </a:xfrm>
          <a:prstGeom prst="roundRect">
            <a:avLst>
              <a:gd fmla="val 14118" name="adj"/>
            </a:avLst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961433" y="6010424"/>
            <a:ext cx="457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2B705"/>
                </a:solidFill>
                <a:latin typeface="Calibri"/>
                <a:ea typeface="Calibri"/>
                <a:cs typeface="Calibri"/>
                <a:sym typeface="Calibri"/>
              </a:rPr>
              <a:t>Errors map to real HTTP codes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961420" y="6330457"/>
            <a:ext cx="9966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400 bad input   ·   404 not found   ·   409 already registered   ·   500 internal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91680" y="4075883"/>
            <a:ext cx="10908900" cy="749700"/>
          </a:xfrm>
          <a:prstGeom prst="roundRect">
            <a:avLst>
              <a:gd fmla="val 14634" name="adj"/>
            </a:avLst>
          </a:prstGeom>
          <a:solidFill>
            <a:srgbClr val="F5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920280" y="4258763"/>
            <a:ext cx="1051500" cy="384000"/>
          </a:xfrm>
          <a:prstGeom prst="roundRect">
            <a:avLst>
              <a:gd fmla="val 19048" name="adj"/>
            </a:avLst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920280" y="4258763"/>
            <a:ext cx="1051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urier New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2200440" y="4149035"/>
            <a:ext cx="4206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C1B29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b="1" lang="en-US" sz="1600">
                <a:solidFill>
                  <a:srgbClr val="1C1B29"/>
                </a:solidFill>
                <a:latin typeface="Courier New"/>
                <a:ea typeface="Courier New"/>
                <a:cs typeface="Courier New"/>
                <a:sym typeface="Courier New"/>
              </a:rPr>
              <a:t>admin/events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2200440" y="4511193"/>
            <a:ext cx="4206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lang="en-US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Add a new</a:t>
            </a:r>
            <a:r>
              <a:rPr b="0" i="0" lang="en-US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  event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9835730" y="4096258"/>
            <a:ext cx="15546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642C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D9642C"/>
                </a:solidFill>
                <a:latin typeface="Courier New"/>
                <a:ea typeface="Courier New"/>
                <a:cs typeface="Courier New"/>
                <a:sym typeface="Courier New"/>
              </a:rPr>
              <a:t>201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91680" y="5006570"/>
            <a:ext cx="10908900" cy="749700"/>
          </a:xfrm>
          <a:prstGeom prst="roundRect">
            <a:avLst>
              <a:gd fmla="val 14634" name="adj"/>
            </a:avLst>
          </a:prstGeom>
          <a:solidFill>
            <a:srgbClr val="F5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591096" y="5445848"/>
            <a:ext cx="201300" cy="201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920280" y="5189450"/>
            <a:ext cx="1051500" cy="384000"/>
          </a:xfrm>
          <a:prstGeom prst="roundRect">
            <a:avLst>
              <a:gd fmla="val 19048" name="adj"/>
            </a:avLst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920280" y="5189450"/>
            <a:ext cx="1051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urier New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DELETE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2200440" y="5079722"/>
            <a:ext cx="4206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00"/>
              <a:buFont typeface="Courier New"/>
              <a:buNone/>
            </a:pPr>
            <a:r>
              <a:rPr b="1" i="0" lang="en-US" sz="1600" u="none" cap="none" strike="noStrike">
                <a:solidFill>
                  <a:srgbClr val="1C1B29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b="1" lang="en-US" sz="1600">
                <a:solidFill>
                  <a:srgbClr val="1C1B29"/>
                </a:solidFill>
                <a:latin typeface="Courier New"/>
                <a:ea typeface="Courier New"/>
                <a:cs typeface="Courier New"/>
                <a:sym typeface="Courier New"/>
              </a:rPr>
              <a:t>admin/events</a:t>
            </a:r>
            <a:r>
              <a:rPr b="1" i="0" lang="en-US" sz="1600" u="none" cap="none" strike="noStrike">
                <a:solidFill>
                  <a:srgbClr val="1C1B29"/>
                </a:solidFill>
                <a:latin typeface="Courier New"/>
                <a:ea typeface="Courier New"/>
                <a:cs typeface="Courier New"/>
                <a:sym typeface="Courier New"/>
              </a:rPr>
              <a:t>/{id}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2200440" y="5390618"/>
            <a:ext cx="4206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lang="en-US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r>
              <a:rPr b="0" i="0" lang="en-US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 an registration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9835730" y="5016758"/>
            <a:ext cx="15546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642C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D9642C"/>
                </a:solidFill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B29"/>
                </a:solidFill>
                <a:latin typeface="Cambria"/>
                <a:ea typeface="Cambria"/>
                <a:cs typeface="Cambria"/>
                <a:sym typeface="Cambria"/>
              </a:rPr>
              <a:t>Engineering Highlights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gear_white.png" id="159" name="Google Shape;1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213" y="1611173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8"/>
          <p:cNvSpPr/>
          <p:nvPr/>
        </p:nvSpPr>
        <p:spPr>
          <a:xfrm>
            <a:off x="1353312" y="1417320"/>
            <a:ext cx="45171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6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Modular Terraform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1353312" y="1755648"/>
            <a:ext cx="45171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7 reusable modules — dynamodb, iam, lambda, api_gateway, sns, alarms, budgets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6327648" y="1463040"/>
            <a:ext cx="548640" cy="548640"/>
          </a:xfrm>
          <a:prstGeom prst="ellipse">
            <a:avLst/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lock_white.png" id="163" name="Google Shape;16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5781" y="1611173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8"/>
          <p:cNvSpPr/>
          <p:nvPr/>
        </p:nvSpPr>
        <p:spPr>
          <a:xfrm>
            <a:off x="7040880" y="1417320"/>
            <a:ext cx="45171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6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Least-Privilege IAM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7040880" y="1755648"/>
            <a:ext cx="45171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Scoped to exact table ARNs, never "*"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640080" y="2944368"/>
            <a:ext cx="548640" cy="548640"/>
          </a:xfrm>
          <a:prstGeom prst="ellipse">
            <a:avLst/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atabase_white.png" id="167" name="Google Shape;16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8213" y="3092501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8"/>
          <p:cNvSpPr/>
          <p:nvPr/>
        </p:nvSpPr>
        <p:spPr>
          <a:xfrm>
            <a:off x="1353312" y="2898648"/>
            <a:ext cx="45171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6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DynamoDB GSI on Email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353312" y="3236976"/>
            <a:ext cx="45171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Instant lookups — no full-table scans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6327648" y="2944368"/>
            <a:ext cx="548640" cy="548640"/>
          </a:xfrm>
          <a:prstGeom prst="ellipse">
            <a:avLst/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lask_white.png" id="171" name="Google Shape;17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75781" y="3092501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8"/>
          <p:cNvSpPr/>
          <p:nvPr/>
        </p:nvSpPr>
        <p:spPr>
          <a:xfrm>
            <a:off x="7040880" y="2898648"/>
            <a:ext cx="45171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35 Unit Tests with Moto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7040880" y="3236976"/>
            <a:ext cx="45171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AWS mocked, runs in ~2s, no account needed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640080" y="4425696"/>
            <a:ext cx="548640" cy="548640"/>
          </a:xfrm>
          <a:prstGeom prst="ellipse">
            <a:avLst/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retry_white.png" id="175" name="Google Shape;17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8213" y="4573829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8"/>
          <p:cNvSpPr/>
          <p:nvPr/>
        </p:nvSpPr>
        <p:spPr>
          <a:xfrm>
            <a:off x="1353312" y="4379976"/>
            <a:ext cx="45171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6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Idempotent Operations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1353312" y="4718304"/>
            <a:ext cx="45171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Safe to retry, no duplicate rows ever written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327648" y="4425696"/>
            <a:ext cx="548640" cy="548640"/>
          </a:xfrm>
          <a:prstGeom prst="ellipse">
            <a:avLst/>
          </a:prstGeom>
          <a:solidFill>
            <a:srgbClr val="1C1B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gitbranch_white.png" id="179" name="Google Shape;179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75781" y="4573829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"/>
          <p:cNvSpPr/>
          <p:nvPr/>
        </p:nvSpPr>
        <p:spPr>
          <a:xfrm>
            <a:off x="7040880" y="4379976"/>
            <a:ext cx="45171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6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CI/CD with Branch Protection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7040880" y="4718304"/>
            <a:ext cx="451713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150"/>
              <a:buFont typeface="Calibri"/>
              <a:buNone/>
            </a:pPr>
            <a:r>
              <a:rPr b="0" i="0" lang="en-US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No merge without green checks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B29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Live Demo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41375" y="1163325"/>
            <a:ext cx="10908900" cy="5143500"/>
          </a:xfrm>
          <a:prstGeom prst="roundRect">
            <a:avLst>
              <a:gd fmla="val 2667" name="adj"/>
            </a:avLst>
          </a:prstGeom>
          <a:solidFill>
            <a:srgbClr val="2A2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1005850" y="1234451"/>
            <a:ext cx="104100" cy="106800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65075" lIns="65075" spcFirstLastPara="1" rIns="65075" wrap="square" tIns="65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1214100" y="1234451"/>
            <a:ext cx="104100" cy="1068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anchorCtr="0" anchor="ctr" bIns="65075" lIns="65075" spcFirstLastPara="1" rIns="65075" wrap="square" tIns="65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1422351" y="1234451"/>
            <a:ext cx="104100" cy="106800"/>
          </a:xfrm>
          <a:prstGeom prst="ellipse">
            <a:avLst/>
          </a:prstGeom>
          <a:solidFill>
            <a:srgbClr val="6B697D"/>
          </a:solidFill>
          <a:ln>
            <a:noFill/>
          </a:ln>
        </p:spPr>
        <p:txBody>
          <a:bodyPr anchorCtr="0" anchor="ctr" bIns="65075" lIns="65075" spcFirstLastPara="1" rIns="65075" wrap="square" tIns="65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9"/>
          </a:p>
        </p:txBody>
      </p:sp>
      <p:sp>
        <p:nvSpPr>
          <p:cNvPr id="192" name="Google Shape;192;p9"/>
          <p:cNvSpPr/>
          <p:nvPr/>
        </p:nvSpPr>
        <p:spPr>
          <a:xfrm>
            <a:off x="1005853" y="2134875"/>
            <a:ext cx="98409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lang="en-US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The API</a:t>
            </a:r>
            <a:endParaRPr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lang="en-US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API=”https://e7pkqb4we8.execute-api.us-east-1.amazonaws.com/dev”</a:t>
            </a:r>
            <a:endParaRPr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curl $API/events | python3 -m json.tool</a:t>
            </a:r>
            <a:endParaRPr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→ 200 . JSON list of events (JSON)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curl -X POST "$API/register" -H "Content-Type: application/json" -d '{"event_id":"aws-bootcamp","email":"</a:t>
            </a:r>
            <a:r>
              <a:rPr b="0" i="0" lang="en-US" sz="14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osikanyie@gmail.com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","name":"Osikanyi"}' </a:t>
            </a:r>
            <a:r>
              <a:rPr lang="en-US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| python3 -m json.tool</a:t>
            </a:r>
            <a:endParaRPr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→ 201 </a:t>
            </a:r>
            <a:r>
              <a:rPr lang="en-US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. </a:t>
            </a:r>
            <a:r>
              <a:rPr b="0" i="0" lang="en-US" sz="14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Created + confirmation email in the inbox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curl $API/registrations/</a:t>
            </a:r>
            <a:r>
              <a:rPr lang="en-US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osikanyie@gmail.com</a:t>
            </a:r>
            <a:r>
              <a:rPr lang="en-US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| python3 -m json.tool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→ 200 . your registrations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curl -X DELETE $API/registration/{id} </a:t>
            </a:r>
            <a:r>
              <a:rPr lang="en-US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| python3 -m json.tool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→ 200 . cancelled</a:t>
            </a:r>
            <a:endParaRPr b="0" i="0" sz="1400" u="none" cap="none" strike="noStrike">
              <a:solidFill>
                <a:srgbClr val="F2B70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400"/>
              <a:buFont typeface="Courier New"/>
              <a:buNone/>
            </a:pPr>
            <a:r>
              <a:t/>
            </a:r>
            <a:endParaRPr>
              <a:solidFill>
                <a:srgbClr val="F2B70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lang="en-US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The UI (for the live demo):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None/>
            </a:pPr>
            <a:r>
              <a:rPr lang="en-US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→ https://ticketservice.osikanyi.online</a:t>
            </a:r>
            <a:endParaRPr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B29"/>
                </a:solidFill>
                <a:latin typeface="Cambria"/>
                <a:ea typeface="Cambria"/>
                <a:cs typeface="Cambria"/>
                <a:sym typeface="Cambria"/>
              </a:rPr>
              <a:t>Tech Stack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640080" y="1463040"/>
            <a:ext cx="512064" cy="512064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de_white.png" id="200" name="Google Shape;20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337" y="1601297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0"/>
          <p:cNvSpPr/>
          <p:nvPr/>
        </p:nvSpPr>
        <p:spPr>
          <a:xfrm>
            <a:off x="1316736" y="1408176"/>
            <a:ext cx="45537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Language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1316736" y="1682496"/>
            <a:ext cx="4553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Python 3.12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640080" y="2670048"/>
            <a:ext cx="512064" cy="512064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tack_white.png" id="204" name="Google Shape;20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8337" y="2808305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0"/>
          <p:cNvSpPr/>
          <p:nvPr/>
        </p:nvSpPr>
        <p:spPr>
          <a:xfrm>
            <a:off x="1316736" y="2615184"/>
            <a:ext cx="45537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Infra-as-Code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1316736" y="2889504"/>
            <a:ext cx="4553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Terraform — modules + remote S3 state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640080" y="3877056"/>
            <a:ext cx="512064" cy="512064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lightning_white.png" id="208" name="Google Shape;20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8337" y="4015313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0"/>
          <p:cNvSpPr/>
          <p:nvPr/>
        </p:nvSpPr>
        <p:spPr>
          <a:xfrm>
            <a:off x="1316736" y="3822192"/>
            <a:ext cx="45537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Compute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1316736" y="4096512"/>
            <a:ext cx="4553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AWS Lambda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640080" y="5084064"/>
            <a:ext cx="512064" cy="512064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atabase_white.png" id="212" name="Google Shape;21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8337" y="5222321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0"/>
          <p:cNvSpPr/>
          <p:nvPr/>
        </p:nvSpPr>
        <p:spPr>
          <a:xfrm>
            <a:off x="1316736" y="5029200"/>
            <a:ext cx="45537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API + Database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1316736" y="5303520"/>
            <a:ext cx="4553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API Gateway (REST) + DynamoDB (on-demand, GSI)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6327648" y="1463040"/>
            <a:ext cx="512064" cy="512064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ell_white.png" id="216" name="Google Shape;216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65905" y="1601297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0"/>
          <p:cNvSpPr/>
          <p:nvPr/>
        </p:nvSpPr>
        <p:spPr>
          <a:xfrm>
            <a:off x="7004304" y="1408176"/>
            <a:ext cx="45537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Notifications + Monitoring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7004304" y="1682496"/>
            <a:ext cx="4553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SNS, CloudWatch Logs &amp; Alarms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6327648" y="2670048"/>
            <a:ext cx="512064" cy="512064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ollar_white.png" id="220" name="Google Shape;220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65905" y="2808305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0"/>
          <p:cNvSpPr/>
          <p:nvPr/>
        </p:nvSpPr>
        <p:spPr>
          <a:xfrm>
            <a:off x="7004304" y="2615184"/>
            <a:ext cx="45537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Cost Control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7004304" y="2889504"/>
            <a:ext cx="4553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AWS Budgets (Free-Tier guard)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6327648" y="3877056"/>
            <a:ext cx="512064" cy="512064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gitbranch_white.png" id="224" name="Google Shape;224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65905" y="4015313"/>
            <a:ext cx="235549" cy="23554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0"/>
          <p:cNvSpPr/>
          <p:nvPr/>
        </p:nvSpPr>
        <p:spPr>
          <a:xfrm>
            <a:off x="7004304" y="3822192"/>
            <a:ext cx="45537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97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697D"/>
                </a:solidFill>
                <a:latin typeface="Calibri"/>
                <a:ea typeface="Calibri"/>
                <a:cs typeface="Calibri"/>
                <a:sym typeface="Calibri"/>
              </a:rPr>
              <a:t>CI/CD +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7004304" y="4096512"/>
            <a:ext cx="4553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GitHub Actions, pytest, moto, ruff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"/>
          <p:cNvSpPr/>
          <p:nvPr/>
        </p:nvSpPr>
        <p:spPr>
          <a:xfrm>
            <a:off x="640080" y="5029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C1B29"/>
                </a:solidFill>
                <a:latin typeface="Cambria"/>
                <a:ea typeface="Cambria"/>
                <a:cs typeface="Cambria"/>
                <a:sym typeface="Cambria"/>
              </a:rPr>
              <a:t>What I Learned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eckcircle_ink.png" id="234" name="Google Shape;23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" y="1632204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1"/>
          <p:cNvSpPr/>
          <p:nvPr/>
        </p:nvSpPr>
        <p:spPr>
          <a:xfrm>
            <a:off x="1325880" y="1481328"/>
            <a:ext cx="9875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Infrastructure-as-Code discipline — plan, validate, apply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" name="Google Shape;236;p11"/>
          <p:cNvCxnSpPr/>
          <p:nvPr/>
        </p:nvCxnSpPr>
        <p:spPr>
          <a:xfrm>
            <a:off x="1325880" y="2139696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E6E3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11"/>
          <p:cNvSpPr/>
          <p:nvPr/>
        </p:nvSpPr>
        <p:spPr>
          <a:xfrm>
            <a:off x="640080" y="2258568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eckcircle_ink.png" id="238" name="Google Shape;23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" y="2382012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1"/>
          <p:cNvSpPr/>
          <p:nvPr/>
        </p:nvSpPr>
        <p:spPr>
          <a:xfrm>
            <a:off x="1325880" y="2231136"/>
            <a:ext cx="9875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Serverless trade-offs: scaling &amp; cost vs. cold starts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11"/>
          <p:cNvCxnSpPr/>
          <p:nvPr/>
        </p:nvCxnSpPr>
        <p:spPr>
          <a:xfrm>
            <a:off x="1325880" y="2889504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E6E3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11"/>
          <p:cNvSpPr/>
          <p:nvPr/>
        </p:nvSpPr>
        <p:spPr>
          <a:xfrm>
            <a:off x="640080" y="3008376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eckcircle_ink.png" id="242" name="Google Shape;24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" y="3131820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1"/>
          <p:cNvSpPr/>
          <p:nvPr/>
        </p:nvSpPr>
        <p:spPr>
          <a:xfrm>
            <a:off x="1325880" y="2980944"/>
            <a:ext cx="9875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Testing AWS code locally with moto, no cloud needed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11"/>
          <p:cNvCxnSpPr/>
          <p:nvPr/>
        </p:nvCxnSpPr>
        <p:spPr>
          <a:xfrm>
            <a:off x="1325880" y="3639312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E6E3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11"/>
          <p:cNvSpPr/>
          <p:nvPr/>
        </p:nvSpPr>
        <p:spPr>
          <a:xfrm>
            <a:off x="640080" y="375818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eckcircle_ink.png" id="246" name="Google Shape;24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" y="3881628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1"/>
          <p:cNvSpPr/>
          <p:nvPr/>
        </p:nvSpPr>
        <p:spPr>
          <a:xfrm>
            <a:off x="1325880" y="3730752"/>
            <a:ext cx="9875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Git workflow maturity: branches, PRs, CI gates, tags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11"/>
          <p:cNvCxnSpPr/>
          <p:nvPr/>
        </p:nvCxnSpPr>
        <p:spPr>
          <a:xfrm>
            <a:off x="1325880" y="4389120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E6E3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11"/>
          <p:cNvSpPr/>
          <p:nvPr/>
        </p:nvSpPr>
        <p:spPr>
          <a:xfrm>
            <a:off x="640080" y="4507992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eckcircle_ink.png" id="250" name="Google Shape;25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" y="4631436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/>
          <p:cNvSpPr/>
          <p:nvPr/>
        </p:nvSpPr>
        <p:spPr>
          <a:xfrm>
            <a:off x="1325880" y="4480560"/>
            <a:ext cx="9875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Cost awareness and Free-Tier engineering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" name="Google Shape;252;p11"/>
          <p:cNvCxnSpPr/>
          <p:nvPr/>
        </p:nvCxnSpPr>
        <p:spPr>
          <a:xfrm>
            <a:off x="1325880" y="5138928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E6E3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11"/>
          <p:cNvSpPr/>
          <p:nvPr/>
        </p:nvSpPr>
        <p:spPr>
          <a:xfrm>
            <a:off x="640080" y="5257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eckcircle_ink.png" id="254" name="Google Shape;2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" y="5381244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1"/>
          <p:cNvSpPr/>
          <p:nvPr/>
        </p:nvSpPr>
        <p:spPr>
          <a:xfrm>
            <a:off x="1325880" y="5230368"/>
            <a:ext cx="9875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B2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C1B29"/>
                </a:solidFill>
                <a:latin typeface="Calibri"/>
                <a:ea typeface="Calibri"/>
                <a:cs typeface="Calibri"/>
                <a:sym typeface="Calibri"/>
              </a:rPr>
              <a:t>Reading errors and docs to debug real cloud problems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" name="Google Shape;256;p11"/>
          <p:cNvCxnSpPr/>
          <p:nvPr/>
        </p:nvCxnSpPr>
        <p:spPr>
          <a:xfrm>
            <a:off x="1325880" y="5888736"/>
            <a:ext cx="9601200" cy="0"/>
          </a:xfrm>
          <a:prstGeom prst="straightConnector1">
            <a:avLst/>
          </a:prstGeom>
          <a:noFill/>
          <a:ln cap="flat" cmpd="sng" w="12700">
            <a:solidFill>
              <a:srgbClr val="E6E3ED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B29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"/>
          <p:cNvSpPr/>
          <p:nvPr/>
        </p:nvSpPr>
        <p:spPr>
          <a:xfrm>
            <a:off x="5367528" y="1234440"/>
            <a:ext cx="1463040" cy="1463040"/>
          </a:xfrm>
          <a:prstGeom prst="ellipse">
            <a:avLst/>
          </a:prstGeom>
          <a:solidFill>
            <a:srgbClr val="D964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ticket_white.png" id="263" name="Google Shape;26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2549" y="1629461"/>
            <a:ext cx="672998" cy="672998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2"/>
          <p:cNvSpPr/>
          <p:nvPr/>
        </p:nvSpPr>
        <p:spPr>
          <a:xfrm>
            <a:off x="0" y="2880360"/>
            <a:ext cx="12191695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0" y="3794760"/>
            <a:ext cx="121916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F2B705"/>
                </a:solidFill>
                <a:latin typeface="Calibri"/>
                <a:ea typeface="Calibri"/>
                <a:cs typeface="Calibri"/>
                <a:sym typeface="Calibri"/>
              </a:rPr>
              <a:t>Event Registration &amp; Ticketing System — A Serverless REST API on AWS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3896225" y="4617725"/>
            <a:ext cx="4618200" cy="567000"/>
          </a:xfrm>
          <a:prstGeom prst="roundRect">
            <a:avLst>
              <a:gd fmla="val 50000" name="adj"/>
            </a:avLst>
          </a:prstGeom>
          <a:solidFill>
            <a:srgbClr val="2A2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"/>
          <p:cNvSpPr/>
          <p:nvPr/>
        </p:nvSpPr>
        <p:spPr>
          <a:xfrm>
            <a:off x="4434840" y="4700016"/>
            <a:ext cx="402336" cy="402336"/>
          </a:xfrm>
          <a:prstGeom prst="ellipse">
            <a:avLst/>
          </a:prstGeom>
          <a:solidFill>
            <a:srgbClr val="2A2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github_white.png" id="268" name="Google Shape;26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4896" y="4822360"/>
            <a:ext cx="185075" cy="185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2"/>
          <p:cNvSpPr/>
          <p:nvPr/>
        </p:nvSpPr>
        <p:spPr>
          <a:xfrm>
            <a:off x="4434850" y="4617725"/>
            <a:ext cx="3854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github.com/OsikanyiTheDev/event-ticketing-system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B6C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9B6C9"/>
                </a:solidFill>
                <a:latin typeface="Calibri"/>
                <a:ea typeface="Calibri"/>
                <a:cs typeface="Calibri"/>
                <a:sym typeface="Calibri"/>
              </a:rPr>
              <a:t>Osikanyi Essandoh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